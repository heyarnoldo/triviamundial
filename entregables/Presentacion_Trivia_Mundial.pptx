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al equipo y explicar en una frase el propósito del proyecto. Tiempo sugerido: 35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Luis: explicar la situación problemática y conectar el juego con el análisis de datos. Tiempo: 45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Eduardo: describir fases, puntajes, vidas y condición de finalización. Tiempo: 45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Paul: explicar que la interfaz no contiene las reglas y que la misma lógica se reutiliza en pruebas y simulación. Tiempo: 50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Luis: justificar por qué se eligió cada estructura, no limitarse a nombrarlas. Tiempo: 55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Eduardo: mostrar cómo un diccionario se transforma en fila numérica y nombrar las operaciones NumPy. Tiempo: 60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Paul: explicar los límites de clasificación y presentar el histograma. Tiempo: 55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Eduardo: ejecutar el simulador o mostrar sus archivos; aclarar que la semilla vuelve repetible el escenario. Tiempo: 55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Luis: mostrar el comando unittest y explicar dos casos de frontera. Tiempo: 50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Paul: realizar la demostración en vivo desde el ingreso del nombre hasta una respuesta y mostrar la carpeta resultados. Tiempo: 90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PDF y Word se regeneran con Docker sin instalar LaTeX localmente. Tiempo: 45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relacionando los resultados con la rúbrica y abrir el espacio de preguntas. Tiempo: 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5303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FBBF24"/>
                </a:solidFill>
                <a:latin typeface="Aptos"/>
              </a:defRPr>
            </a:pPr>
            <a:r>
              <a:t>MUNDIAL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7772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TRIVIA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6583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0">
                <a:solidFill>
                  <a:srgbClr val="CBD5E1"/>
                </a:solidFill>
                <a:latin typeface="Aptos"/>
              </a:defRPr>
            </a:pPr>
            <a:r>
              <a:t>Juego interactivo, análisis NumPy y visualización Matplotlib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58521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Luis Enrique Mamani Aguilar  |  U23259985</a:t>
            </a:r>
            <a:br/>
            <a:r>
              <a:t>Eduardo Franco Cortez Benites  |  U1421099</a:t>
            </a:r>
            <a:br/>
            <a:r>
              <a:t>Paul Williams Gallardo Villa  |  U1614474</a:t>
            </a:r>
          </a:p>
        </p:txBody>
      </p:sp>
      <p:pic>
        <p:nvPicPr>
          <p:cNvPr id="7" name="Picture 6" descr="03_pregu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177772"/>
            <a:ext cx="4114800" cy="24110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715000"/>
            <a:ext cx="6400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Aptos"/>
              </a:defRPr>
            </a:pPr>
            <a:r>
              <a:t>Universidad Tecnológica del Perú</a:t>
            </a:r>
            <a:br/>
            <a:r>
              <a:t>Programación de Computadoras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Aptos"/>
              </a:defRPr>
            </a:pPr>
            <a:r>
              <a:t>Problema y solución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CBD5E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57800" cy="420624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800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Aptos"/>
              </a:defRPr>
            </a:pPr>
            <a:r>
              <a:t>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006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Un puntaje final aislado no explica dónde falla el jugador, cómo evoluciona ni cuánto tarda en responder.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57800" cy="420624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39"/>
            <a:ext cx="4800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Aptos"/>
              </a:defRPr>
            </a:pPr>
            <a:r>
              <a:t>SOLUCIÓN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80060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Registrar cada interacción y convertirla en matriz, indicadores, clasificación, gráficos y reportes reproducibles.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Aptos"/>
              </a:defRPr>
            </a:pPr>
            <a:r>
              <a:t>Flujo de la partida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CBD5E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965960" cy="214884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ptos"/>
              </a:defRPr>
            </a:pPr>
            <a:r>
              <a:t>GRUPOS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150876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5 preguntas</a:t>
            </a:r>
            <a:br/>
            <a:r>
              <a:t>+10 puntos por acierto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828800"/>
            <a:ext cx="1965960" cy="214884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965960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ptos"/>
              </a:defRPr>
            </a:pPr>
            <a:r>
              <a:t>OCTAVOS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23160"/>
            <a:ext cx="150876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5 preguntas</a:t>
            </a:r>
            <a:br/>
            <a:r>
              <a:t>+15 puntos por acierto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828800"/>
            <a:ext cx="1965960" cy="214884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1965960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ptos"/>
              </a:defRPr>
            </a:pPr>
            <a:r>
              <a:t>CUARTOS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423160"/>
            <a:ext cx="150876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5 preguntas</a:t>
            </a:r>
            <a:br/>
            <a:r>
              <a:t>+20 puntos por acierto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828800"/>
            <a:ext cx="1965960" cy="214884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965960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ptos"/>
              </a:defRPr>
            </a:pPr>
            <a:r>
              <a:t>SEMIFINAL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423160"/>
            <a:ext cx="150876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5 preguntas</a:t>
            </a:r>
            <a:br/>
            <a:r>
              <a:t>+30 puntos por acierto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828800"/>
            <a:ext cx="1965960" cy="214884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1965960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ptos"/>
              </a:defRPr>
            </a:pPr>
            <a:r>
              <a:t>FINAL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2423160"/>
            <a:ext cx="150876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5 preguntas</a:t>
            </a:r>
            <a:br/>
            <a:r>
              <a:t>+50 puntos por acierto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754880"/>
            <a:ext cx="8503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3 vidas · 25 preguntas máximas · sin repeticiones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Aptos"/>
              </a:defRPr>
            </a:pPr>
            <a:r>
              <a:t>Arquitectura modular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CBD5E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834640" cy="132588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interfaz.py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237744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Pantallas y eventos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17320"/>
            <a:ext cx="2834640" cy="132588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5448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juego.py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237744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Reglas y validaciones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17320"/>
            <a:ext cx="2834640" cy="132588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55448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preguntas.py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011680"/>
            <a:ext cx="237744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50 preguntas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3840480"/>
            <a:ext cx="2834640" cy="132588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397764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ptos"/>
              </a:defRPr>
            </a:pPr>
            <a:r>
              <a:t>analitica.py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434840"/>
            <a:ext cx="237744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NumPy y Matplotlib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840480"/>
            <a:ext cx="2834640" cy="132588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97764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simulador.py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434840"/>
            <a:ext cx="237744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Partidas reproducibles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Aptos"/>
              </a:defRPr>
            </a:pPr>
            <a:r>
              <a:t>Estructuras de datos con propósito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CBD5E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29000" cy="448056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LISTAS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971800" cy="3749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Banco de preguntas</a:t>
            </a:r>
            <a:br/>
            <a:r>
              <a:t>Historial</a:t>
            </a:r>
            <a:br/>
            <a:r>
              <a:t>IDs respondidos</a:t>
            </a:r>
            <a:br/>
            <a:r>
              <a:t>Ranking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448056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63039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ptos"/>
              </a:defRPr>
            </a:pPr>
            <a:r>
              <a:t>DICCIONARIOS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2971800" cy="3749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Pregunta</a:t>
            </a:r>
            <a:br/>
            <a:r>
              <a:t>Estado del juego</a:t>
            </a:r>
            <a:br/>
            <a:r>
              <a:t>Registro por respuesta</a:t>
            </a:r>
            <a:br/>
            <a:r>
              <a:t>Códigos de categorías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429000" cy="448056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39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Aptos"/>
              </a:defRPr>
            </a:pPr>
            <a:r>
              <a:t>TUPLAS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2971800" cy="3749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Opciones inmutables</a:t>
            </a:r>
            <a:br/>
            <a:r>
              <a:t>Fases del torneo</a:t>
            </a:r>
            <a:br/>
            <a:r>
              <a:t>Columnas de matrices</a:t>
            </a:r>
            <a:br/>
            <a:r>
              <a:t>Campos 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Aptos"/>
              </a:defRPr>
            </a:pPr>
            <a:r>
              <a:t>Captura y matriz NumPy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CBD5E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965960" cy="91440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508760" cy="182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Número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3512" y="1417320"/>
            <a:ext cx="1965960" cy="91440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2112" y="1554480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2011680"/>
            <a:ext cx="1508760" cy="182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Pregunta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21224" y="1417320"/>
            <a:ext cx="1965960" cy="91440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9824" y="1554480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9824" y="2011680"/>
            <a:ext cx="1508760" cy="182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Fase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88936" y="1417320"/>
            <a:ext cx="1965960" cy="91440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17536" y="1554480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7536" y="2011680"/>
            <a:ext cx="1508760" cy="182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Categoría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1417320"/>
            <a:ext cx="1965960" cy="91440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85248" y="1554480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5248" y="2011680"/>
            <a:ext cx="1508760" cy="182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Dificultad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651760"/>
            <a:ext cx="1965960" cy="91440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788920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246120"/>
            <a:ext cx="1508760" cy="182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Acierto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53512" y="2651760"/>
            <a:ext cx="1965960" cy="91440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82112" y="2788920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2112" y="3246120"/>
            <a:ext cx="1508760" cy="182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Puntos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21224" y="2651760"/>
            <a:ext cx="1965960" cy="91440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9824" y="2788920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9824" y="3246120"/>
            <a:ext cx="1508760" cy="182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Puntaje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88936" y="2651760"/>
            <a:ext cx="1965960" cy="91440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17536" y="2788920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7536" y="3246120"/>
            <a:ext cx="1508760" cy="182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Vidas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56648" y="2651760"/>
            <a:ext cx="1965960" cy="91440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5248" y="2788920"/>
            <a:ext cx="1508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8" y="3246120"/>
            <a:ext cx="1508760" cy="1828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Tiempo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343400"/>
            <a:ext cx="10149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Matriz n × 10  →  sumas, medias, desviación estándar y máscaras booleanas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Aptos"/>
              </a:defRPr>
            </a:pPr>
            <a:r>
              <a:t>Clasificación y visualización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CBD5E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840480" cy="86868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17319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Aptos"/>
              </a:defRPr>
            </a:pPr>
            <a:r>
              <a:t>Excelente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3383280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80–100%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3840480" cy="86868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6032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Bueno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3383280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60–79.99%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3840480" cy="86868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0332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ptos"/>
              </a:defRPr>
            </a:pPr>
            <a:r>
              <a:t>En proceso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60520"/>
            <a:ext cx="3383280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40–59.99%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09160"/>
            <a:ext cx="3840480" cy="86868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Aptos"/>
              </a:defRPr>
            </a:pPr>
            <a:r>
              <a:t>Necesita refuerzo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303520"/>
            <a:ext cx="3383280" cy="137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0–39.99%</a:t>
            </a:r>
          </a:p>
        </p:txBody>
      </p:sp>
      <p:pic>
        <p:nvPicPr>
          <p:cNvPr id="18" name="Picture 17" descr="puntajes_simul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19306"/>
            <a:ext cx="6675120" cy="32765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Aptos"/>
              </a:defRPr>
            </a:pPr>
            <a:r>
              <a:t>Simulación reproducible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CBD5E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606040" cy="141732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2148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partidas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371600"/>
            <a:ext cx="2606040" cy="141732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50876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ptos"/>
              </a:defRPr>
            </a:pPr>
            <a:r>
              <a:t>104.50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965960"/>
            <a:ext cx="2148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puntaje promedio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2606040" cy="141732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3756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175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94760"/>
            <a:ext cx="2148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puntaje máximo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200400"/>
            <a:ext cx="2606040" cy="141732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333756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43.27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794760"/>
            <a:ext cx="2148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desviación estándar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600200"/>
            <a:ext cx="3474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FBBF24"/>
                </a:solidFill>
                <a:latin typeface="Aptos"/>
              </a:defRPr>
            </a:pPr>
            <a:r>
              <a:t>Semilla 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514600"/>
            <a:ext cx="3474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Misma semilla</a:t>
            </a:r>
            <a:br/>
            <a:r>
              <a:t>=</a:t>
            </a:r>
            <a:br/>
            <a:r>
              <a:t>mismas preguntas y resultados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Aptos"/>
              </a:defRPr>
            </a:pPr>
            <a:r>
              <a:t>Validaciones y pruebas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CBD5E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448056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754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ptos"/>
              </a:defRPr>
            </a:pPr>
            <a:r>
              <a:t>VALIDACIONES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754880" cy="3749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Nombre y longitud</a:t>
            </a:r>
            <a:br/>
            <a:r>
              <a:t>Banco consistente</a:t>
            </a:r>
            <a:br/>
            <a:r>
              <a:t>IDs únicos</a:t>
            </a:r>
            <a:br/>
            <a:r>
              <a:t>Cuatro opciones</a:t>
            </a:r>
            <a:br/>
            <a:r>
              <a:t>Porcentajes válidos</a:t>
            </a:r>
            <a:br/>
            <a:r>
              <a:t>Sin respuestas duplicadas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12080" cy="448056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39"/>
            <a:ext cx="4754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Aptos"/>
              </a:defRPr>
            </a:pPr>
            <a:r>
              <a:t>11 PRUEBAS SUPERADAS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3749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Lógica del juego</a:t>
            </a:r>
            <a:br/>
            <a:r>
              <a:t>Matriz e indicadores</a:t>
            </a:r>
            <a:br/>
            <a:r>
              <a:t>Límites de clasificación</a:t>
            </a:r>
            <a:br/>
            <a:r>
              <a:t>Exportación de gráficos</a:t>
            </a:r>
            <a:br/>
            <a:r>
              <a:t>Repetibilidad</a:t>
            </a:r>
            <a:br/>
            <a:r>
              <a:t>Archivos de simulación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Aptos"/>
              </a:defRPr>
            </a:pPr>
            <a:r>
              <a:t>Evidencia de funcionamiento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CBD5E1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6" name="Picture 5" descr="01_bienven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1656"/>
            <a:ext cx="5486400" cy="3214687"/>
          </a:xfrm>
          <a:prstGeom prst="rect">
            <a:avLst/>
          </a:prstGeom>
        </p:spPr>
      </p:pic>
      <p:pic>
        <p:nvPicPr>
          <p:cNvPr id="7" name="Picture 6" descr="05_result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1656"/>
            <a:ext cx="5486400" cy="32146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56692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Aptos"/>
              </a:defRPr>
            </a:pPr>
            <a:r>
              <a:t>Entrada validada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56692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Aptos"/>
              </a:defRPr>
            </a:pPr>
            <a:r>
              <a:t>Reporte y clasificación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Aptos"/>
              </a:defRPr>
            </a:pPr>
            <a:r>
              <a:t>Entregables reproducibles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CBD5E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429000" cy="347472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ptos"/>
              </a:defRPr>
            </a:pPr>
            <a:r>
              <a:t>PROGRAMA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9718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Python</a:t>
            </a:r>
            <a:br/>
            <a:r>
              <a:t>Simulador</a:t>
            </a:r>
            <a:br/>
            <a:r>
              <a:t>Pruebas</a:t>
            </a:r>
            <a:br/>
            <a:r>
              <a:t>Imágenes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347472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0876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ptos"/>
              </a:defRPr>
            </a:pPr>
            <a:r>
              <a:t>DOCUMENTACIÓN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65960"/>
            <a:ext cx="29718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LaTeX APA 7</a:t>
            </a:r>
            <a:br/>
            <a:r>
              <a:t>PDF</a:t>
            </a:r>
            <a:br/>
            <a:r>
              <a:t>Word</a:t>
            </a:r>
            <a:br/>
            <a:r>
              <a:t>Referencias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429000" cy="3474720"/>
          </a:xfrm>
          <a:prstGeom prst="roundRect">
            <a:avLst/>
          </a:prstGeom>
          <a:solidFill>
            <a:srgbClr val="18336C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0876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Aptos"/>
              </a:defRPr>
            </a:pPr>
            <a:r>
              <a:t>SUSTENTACIÓN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65960"/>
            <a:ext cx="29718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PPT editable</a:t>
            </a:r>
            <a:br/>
            <a:r>
              <a:t>Capturas</a:t>
            </a:r>
            <a:br/>
            <a:r>
              <a:t>Gráficos</a:t>
            </a:r>
            <a:br/>
            <a:r>
              <a:t>Guion de video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docker compose run --rm latex  |  docker compose run --rm word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BBF24"/>
                </a:solidFill>
                <a:latin typeface="Aptos"/>
              </a:defRPr>
            </a:pPr>
            <a: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0972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CBD5E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3832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DATOS REALES</a:t>
            </a:r>
            <a:br/>
            <a:r>
              <a:t>Cada respuesta queda registrada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63040"/>
            <a:ext cx="33832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ANÁLISIS ÚTIL</a:t>
            </a:r>
            <a:br/>
            <a:r>
              <a:t>NumPy y gráficos interpretables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463040"/>
            <a:ext cx="33832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CALIDAD</a:t>
            </a:r>
            <a:br/>
            <a:r>
              <a:t>Validaciones, pruebas y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023360"/>
            <a:ext cx="7772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200" b="1">
                <a:solidFill>
                  <a:srgbClr val="FBBF24"/>
                </a:solidFill>
                <a:latin typeface="Aptos"/>
              </a:defRPr>
            </a:pPr>
            <a: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